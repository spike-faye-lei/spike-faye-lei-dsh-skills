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0">
                <a:solidFill>
                  <a:srgbClr val="808080"/>
                </a:solidFill>
              </a:rPr>
              <a:t>Brand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5400" b="1">
                <a:solidFill>
                  <a:srgbClr val="171717"/>
                </a:solidFill>
              </a:rPr>
              <a:t>Vercel landing (vercel.com)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onsolas"/>
              </a:rPr>
              <a:t>https://vercel.com/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9CA3AF"/>
                </a:solidFill>
              </a:rPr>
              <a:t>Captured 2026-05-18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900" b="0">
                <a:solidFill>
                  <a:srgbClr val="9CA3AF"/>
                </a:solidFill>
              </a:rPr>
              <a:t>Generated with anydesign · for Claude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Atmosphere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374151"/>
                </a:solidFill>
              </a:rPr>
              <a:t>Near-monochrome editorial surface from Vercel's Geist design system. White background,
near-black text (#171717), black primary buttons. The brand statement is the multi-stop
AI gradient (orange-to-teal) wrapping the Vercel triangle in the hero. Every other
surface is restrained — the gradient is the one place where the brand admits marketing
function and quarantines it. Polarity-flipped section bands provide rhythm without
shadow. Full Geist token map extracted live (808 CSS custom properties).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Color palette (1/6)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color-background-100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#FFFFFF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371600"/>
            <a:ext cx="1828800" cy="1005840"/>
          </a:xfrm>
          <a:prstGeom prst="rect">
            <a:avLst/>
          </a:prstGeom>
          <a:solidFill>
            <a:srgbClr val="FAFAFA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color-background-200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#FAFAFA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F2F2F2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#F2F2F2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1828800" cy="1005840"/>
          </a:xfrm>
          <a:prstGeom prst="rect">
            <a:avLst/>
          </a:prstGeom>
          <a:solidFill>
            <a:srgbClr val="EBEBEB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#EBEBEB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1828800" cy="1005840"/>
          </a:xfrm>
          <a:prstGeom prst="rect">
            <a:avLst/>
          </a:prstGeom>
          <a:solidFill>
            <a:srgbClr val="E6E6E6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#E6E6E6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371600"/>
            <a:ext cx="1828800" cy="1005840"/>
          </a:xfrm>
          <a:prstGeom prst="rect">
            <a:avLst/>
          </a:prstGeom>
          <a:solidFill>
            <a:srgbClr val="EAEAEA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#EAEAEA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1828800" cy="1005840"/>
          </a:xfrm>
          <a:prstGeom prst="rect">
            <a:avLst/>
          </a:prstGeom>
          <a:solidFill>
            <a:srgbClr val="C9C9C9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#C9C9C9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017520"/>
            <a:ext cx="1828800" cy="1005840"/>
          </a:xfrm>
          <a:prstGeom prst="rect">
            <a:avLst/>
          </a:prstGeom>
          <a:solidFill>
            <a:srgbClr val="A8A8A8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#A8A8A8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1828800" cy="1005840"/>
          </a:xfrm>
          <a:prstGeom prst="rect">
            <a:avLst/>
          </a:prstGeom>
          <a:solidFill>
            <a:srgbClr val="8F8F8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#8F8F8F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1828800" cy="1005840"/>
          </a:xfrm>
          <a:prstGeom prst="rect">
            <a:avLst/>
          </a:prstGeom>
          <a:solidFill>
            <a:srgbClr val="7D7D7D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#7D7D7D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1828800" cy="1005840"/>
          </a:xfrm>
          <a:prstGeom prst="rect">
            <a:avLst/>
          </a:prstGeom>
          <a:solidFill>
            <a:srgbClr val="4D4D4D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#4D4D4D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3017520"/>
            <a:ext cx="1828800" cy="1005840"/>
          </a:xfrm>
          <a:prstGeom prst="rect">
            <a:avLst/>
          </a:prstGeom>
          <a:solidFill>
            <a:srgbClr val="171717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#171717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#0000000D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66344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66344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#0000001A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66344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466344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#0000003D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Color palette (2/6)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#00000070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37160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#00000082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#000000B3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1828800" cy="1005840"/>
          </a:xfrm>
          <a:prstGeom prst="rect">
            <a:avLst/>
          </a:prstGeom>
          <a:solidFill>
            <a:srgbClr val="0000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color-gray-alpha-1000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#000000E8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1828800" cy="1005840"/>
          </a:xfrm>
          <a:prstGeom prst="rect">
            <a:avLst/>
          </a:prstGeom>
          <a:solidFill>
            <a:srgbClr val="F0F7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#F0F7FF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371600"/>
            <a:ext cx="1828800" cy="1005840"/>
          </a:xfrm>
          <a:prstGeom prst="rect">
            <a:avLst/>
          </a:prstGeom>
          <a:solidFill>
            <a:srgbClr val="EAF4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#EAF4FF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1828800" cy="1005840"/>
          </a:xfrm>
          <a:prstGeom prst="rect">
            <a:avLst/>
          </a:prstGeom>
          <a:solidFill>
            <a:srgbClr val="E0EF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#E0EFFF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017520"/>
            <a:ext cx="1828800" cy="1005840"/>
          </a:xfrm>
          <a:prstGeom prst="rect">
            <a:avLst/>
          </a:prstGeom>
          <a:solidFill>
            <a:srgbClr val="CCE7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#CCE7FF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1828800" cy="1005840"/>
          </a:xfrm>
          <a:prstGeom prst="rect">
            <a:avLst/>
          </a:prstGeom>
          <a:solidFill>
            <a:srgbClr val="97CC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#97CCFF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1828800" cy="1005840"/>
          </a:xfrm>
          <a:prstGeom prst="rect">
            <a:avLst/>
          </a:prstGeom>
          <a:solidFill>
            <a:srgbClr val="51AE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#51AEFF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1828800" cy="1005840"/>
          </a:xfrm>
          <a:prstGeom prst="rect">
            <a:avLst/>
          </a:prstGeom>
          <a:solidFill>
            <a:srgbClr val="0070F7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#0070F7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3017520"/>
            <a:ext cx="1828800" cy="1005840"/>
          </a:xfrm>
          <a:prstGeom prst="rect">
            <a:avLst/>
          </a:prstGeom>
          <a:solidFill>
            <a:srgbClr val="005EDC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#005EDC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828800" cy="1005840"/>
          </a:xfrm>
          <a:prstGeom prst="rect">
            <a:avLst/>
          </a:prstGeom>
          <a:solidFill>
            <a:srgbClr val="0064E2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#0064E2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663440"/>
            <a:ext cx="1828800" cy="1005840"/>
          </a:xfrm>
          <a:prstGeom prst="rect">
            <a:avLst/>
          </a:prstGeom>
          <a:solidFill>
            <a:srgbClr val="002453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color-blue-1000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#002453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663440"/>
            <a:ext cx="1828800" cy="1005840"/>
          </a:xfrm>
          <a:prstGeom prst="rect">
            <a:avLst/>
          </a:prstGeom>
          <a:solidFill>
            <a:srgbClr val="FFEEF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#FFEEF0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1828800" cy="1005840"/>
          </a:xfrm>
          <a:prstGeom prst="rect">
            <a:avLst/>
          </a:prstGeom>
          <a:solidFill>
            <a:srgbClr val="FFE9EA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#FFE9EA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663440"/>
            <a:ext cx="1828800" cy="1005840"/>
          </a:xfrm>
          <a:prstGeom prst="rect">
            <a:avLst/>
          </a:prstGeom>
          <a:solidFill>
            <a:srgbClr val="FFE4E5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#FFE4E5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4663440"/>
            <a:ext cx="1828800" cy="1005840"/>
          </a:xfrm>
          <a:prstGeom prst="rect">
            <a:avLst/>
          </a:prstGeom>
          <a:solidFill>
            <a:srgbClr val="FFD8D7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#FFD8D7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Color palette (3/6)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solidFill>
            <a:srgbClr val="FFB5B6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#FFB5B6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371600"/>
            <a:ext cx="1828800" cy="1005840"/>
          </a:xfrm>
          <a:prstGeom prst="rect">
            <a:avLst/>
          </a:prstGeom>
          <a:solidFill>
            <a:srgbClr val="FF6A6E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#FF6A6E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FC0035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#FC0035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1828800" cy="1005840"/>
          </a:xfrm>
          <a:prstGeom prst="rect">
            <a:avLst/>
          </a:prstGeom>
          <a:solidFill>
            <a:srgbClr val="E70022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#E70022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1828800" cy="1005840"/>
          </a:xfrm>
          <a:prstGeom prst="rect">
            <a:avLst/>
          </a:prstGeom>
          <a:solidFill>
            <a:srgbClr val="D6002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#D60020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371600"/>
            <a:ext cx="1828800" cy="1005840"/>
          </a:xfrm>
          <a:prstGeom prst="rect">
            <a:avLst/>
          </a:prstGeom>
          <a:solidFill>
            <a:srgbClr val="46000C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color-red-1000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#46000C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1828800" cy="1005840"/>
          </a:xfrm>
          <a:prstGeom prst="rect">
            <a:avLst/>
          </a:prstGeom>
          <a:solidFill>
            <a:srgbClr val="FFF6E1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#FFF6E1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017520"/>
            <a:ext cx="1828800" cy="1005840"/>
          </a:xfrm>
          <a:prstGeom prst="rect">
            <a:avLst/>
          </a:prstGeom>
          <a:solidFill>
            <a:srgbClr val="FFF4D4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#FFF4D4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1828800" cy="1005840"/>
          </a:xfrm>
          <a:prstGeom prst="rect">
            <a:avLst/>
          </a:prstGeom>
          <a:solidFill>
            <a:srgbClr val="FFF1C8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#FFF1C8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1828800" cy="1005840"/>
          </a:xfrm>
          <a:prstGeom prst="rect">
            <a:avLst/>
          </a:prstGeom>
          <a:solidFill>
            <a:srgbClr val="FFDD84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#FFDD84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1828800" cy="1005840"/>
          </a:xfrm>
          <a:prstGeom prst="rect">
            <a:avLst/>
          </a:prstGeom>
          <a:solidFill>
            <a:srgbClr val="FFC85E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#FFC85E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3017520"/>
            <a:ext cx="1828800" cy="1005840"/>
          </a:xfrm>
          <a:prstGeom prst="rect">
            <a:avLst/>
          </a:prstGeom>
          <a:solidFill>
            <a:srgbClr val="FFAA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#FFAA00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828800" cy="1005840"/>
          </a:xfrm>
          <a:prstGeom prst="rect">
            <a:avLst/>
          </a:prstGeom>
          <a:solidFill>
            <a:srgbClr val="FFB2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#FFB200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663440"/>
            <a:ext cx="1828800" cy="1005840"/>
          </a:xfrm>
          <a:prstGeom prst="rect">
            <a:avLst/>
          </a:prstGeom>
          <a:solidFill>
            <a:srgbClr val="FF99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#FF9900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663440"/>
            <a:ext cx="1828800" cy="1005840"/>
          </a:xfrm>
          <a:prstGeom prst="rect">
            <a:avLst/>
          </a:prstGeom>
          <a:solidFill>
            <a:srgbClr val="A64F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#A64F00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1828800" cy="1005840"/>
          </a:xfrm>
          <a:prstGeom prst="rect">
            <a:avLst/>
          </a:prstGeom>
          <a:solidFill>
            <a:srgbClr val="541C0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color-amber-1000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#541C00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663440"/>
            <a:ext cx="1828800" cy="1005840"/>
          </a:xfrm>
          <a:prstGeom prst="rect">
            <a:avLst/>
          </a:prstGeom>
          <a:solidFill>
            <a:srgbClr val="ECFDEC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#ECFDEC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4663440"/>
            <a:ext cx="1828800" cy="1005840"/>
          </a:xfrm>
          <a:prstGeom prst="rect">
            <a:avLst/>
          </a:prstGeom>
          <a:solidFill>
            <a:srgbClr val="E5FCE7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#E5FCE7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Color palette (4/6)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solidFill>
            <a:srgbClr val="D3FAD1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#D3FAD1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371600"/>
            <a:ext cx="1828800" cy="1005840"/>
          </a:xfrm>
          <a:prstGeom prst="rect">
            <a:avLst/>
          </a:prstGeom>
          <a:solidFill>
            <a:srgbClr val="B9F5BC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#B9F5BC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82EB8D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#82EB8D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1828800" cy="1005840"/>
          </a:xfrm>
          <a:prstGeom prst="rect">
            <a:avLst/>
          </a:prstGeom>
          <a:solidFill>
            <a:srgbClr val="4CE15E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#4CE15E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1828800" cy="1005840"/>
          </a:xfrm>
          <a:prstGeom prst="rect">
            <a:avLst/>
          </a:prstGeom>
          <a:solidFill>
            <a:srgbClr val="28A948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#28A948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371600"/>
            <a:ext cx="1828800" cy="1005840"/>
          </a:xfrm>
          <a:prstGeom prst="rect">
            <a:avLst/>
          </a:prstGeom>
          <a:solidFill>
            <a:srgbClr val="279141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#279141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1828800" cy="1005840"/>
          </a:xfrm>
          <a:prstGeom prst="rect">
            <a:avLst/>
          </a:prstGeom>
          <a:solidFill>
            <a:srgbClr val="107D32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#107D32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017520"/>
            <a:ext cx="1828800" cy="1005840"/>
          </a:xfrm>
          <a:prstGeom prst="rect">
            <a:avLst/>
          </a:prstGeom>
          <a:solidFill>
            <a:srgbClr val="00370D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color-green-1000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#00370D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1828800" cy="1005840"/>
          </a:xfrm>
          <a:prstGeom prst="rect">
            <a:avLst/>
          </a:prstGeom>
          <a:solidFill>
            <a:srgbClr val="DFFFFB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#DFFFFB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1828800" cy="1005840"/>
          </a:xfrm>
          <a:prstGeom prst="rect">
            <a:avLst/>
          </a:prstGeom>
          <a:solidFill>
            <a:srgbClr val="DDFEF6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#DDFEF6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1828800" cy="1005840"/>
          </a:xfrm>
          <a:prstGeom prst="rect">
            <a:avLst/>
          </a:prstGeom>
          <a:solidFill>
            <a:srgbClr val="CCF9F1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#CCF9F1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3017520"/>
            <a:ext cx="1828800" cy="1005840"/>
          </a:xfrm>
          <a:prstGeom prst="rect">
            <a:avLst/>
          </a:prstGeom>
          <a:solidFill>
            <a:srgbClr val="B1F7EC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#B1F7EC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828800" cy="1005840"/>
          </a:xfrm>
          <a:prstGeom prst="rect">
            <a:avLst/>
          </a:prstGeom>
          <a:solidFill>
            <a:srgbClr val="52F0DB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#52F0DB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663440"/>
            <a:ext cx="1828800" cy="1005840"/>
          </a:xfrm>
          <a:prstGeom prst="rect">
            <a:avLst/>
          </a:prstGeom>
          <a:solidFill>
            <a:srgbClr val="00E2C4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#00E2C4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663440"/>
            <a:ext cx="1828800" cy="1005840"/>
          </a:xfrm>
          <a:prstGeom prst="rect">
            <a:avLst/>
          </a:prstGeom>
          <a:solidFill>
            <a:srgbClr val="00A694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#00A694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1828800" cy="1005840"/>
          </a:xfrm>
          <a:prstGeom prst="rect">
            <a:avLst/>
          </a:prstGeom>
          <a:solidFill>
            <a:srgbClr val="008D7D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#008D7D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663440"/>
            <a:ext cx="1828800" cy="1005840"/>
          </a:xfrm>
          <a:prstGeom prst="rect">
            <a:avLst/>
          </a:prstGeom>
          <a:solidFill>
            <a:srgbClr val="007A6E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#007A6E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4663440"/>
            <a:ext cx="1828800" cy="1005840"/>
          </a:xfrm>
          <a:prstGeom prst="rect">
            <a:avLst/>
          </a:prstGeom>
          <a:solidFill>
            <a:srgbClr val="003D34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color-teal-1000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#003D34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Color palette (5/6)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solidFill>
            <a:srgbClr val="F9F0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#F9F0FF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371600"/>
            <a:ext cx="1828800" cy="1005840"/>
          </a:xfrm>
          <a:prstGeom prst="rect">
            <a:avLst/>
          </a:prstGeom>
          <a:solidFill>
            <a:srgbClr val="F9F1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#F9F1FF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F5E8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#F5E8FF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1828800" cy="1005840"/>
          </a:xfrm>
          <a:prstGeom prst="rect">
            <a:avLst/>
          </a:prstGeom>
          <a:solidFill>
            <a:srgbClr val="F1D9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#F1D9FF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1828800" cy="1005840"/>
          </a:xfrm>
          <a:prstGeom prst="rect">
            <a:avLst/>
          </a:prstGeom>
          <a:solidFill>
            <a:srgbClr val="DDA9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#DDA9FF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371600"/>
            <a:ext cx="1828800" cy="1005840"/>
          </a:xfrm>
          <a:prstGeom prst="rect">
            <a:avLst/>
          </a:prstGeom>
          <a:solidFill>
            <a:srgbClr val="C77DFF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#C77DFF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1828800" cy="1005840"/>
          </a:xfrm>
          <a:prstGeom prst="rect">
            <a:avLst/>
          </a:prstGeom>
          <a:solidFill>
            <a:srgbClr val="9F00F4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#9F00F4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017520"/>
            <a:ext cx="1828800" cy="1005840"/>
          </a:xfrm>
          <a:prstGeom prst="rect">
            <a:avLst/>
          </a:prstGeom>
          <a:solidFill>
            <a:srgbClr val="8400CD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#8400CD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1828800" cy="1005840"/>
          </a:xfrm>
          <a:prstGeom prst="rect">
            <a:avLst/>
          </a:prstGeom>
          <a:solidFill>
            <a:srgbClr val="7C00C9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#7C00C9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017520"/>
            <a:ext cx="1828800" cy="1005840"/>
          </a:xfrm>
          <a:prstGeom prst="rect">
            <a:avLst/>
          </a:prstGeom>
          <a:solidFill>
            <a:srgbClr val="2E004D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color-purple-1000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#2E004D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3017520"/>
            <a:ext cx="1828800" cy="1005840"/>
          </a:xfrm>
          <a:prstGeom prst="rect">
            <a:avLst/>
          </a:prstGeom>
          <a:solidFill>
            <a:srgbClr val="FFEAF5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color-pink-100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#FFEAF5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3017520"/>
            <a:ext cx="1828800" cy="1005840"/>
          </a:xfrm>
          <a:prstGeom prst="rect">
            <a:avLst/>
          </a:prstGeom>
          <a:solidFill>
            <a:srgbClr val="FFEAF2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406908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color-pink-200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#FFEAF2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828800" cy="1005840"/>
          </a:xfrm>
          <a:prstGeom prst="rect">
            <a:avLst/>
          </a:prstGeom>
          <a:solidFill>
            <a:srgbClr val="FFE0EB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color-pink-300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#FFE0EB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663440"/>
            <a:ext cx="1828800" cy="1005840"/>
          </a:xfrm>
          <a:prstGeom prst="rect">
            <a:avLst/>
          </a:prstGeom>
          <a:solidFill>
            <a:srgbClr val="FFD5E1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color-pink-400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#FFD5E1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663440"/>
            <a:ext cx="1828800" cy="1005840"/>
          </a:xfrm>
          <a:prstGeom prst="rect">
            <a:avLst/>
          </a:prstGeom>
          <a:solidFill>
            <a:srgbClr val="FDB3CC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color-pink-500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#FDB3CC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4663440"/>
            <a:ext cx="1828800" cy="1005840"/>
          </a:xfrm>
          <a:prstGeom prst="rect">
            <a:avLst/>
          </a:prstGeom>
          <a:solidFill>
            <a:srgbClr val="F97EA7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color-pink-600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#F97EA7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4663440"/>
            <a:ext cx="1828800" cy="1005840"/>
          </a:xfrm>
          <a:prstGeom prst="rect">
            <a:avLst/>
          </a:prstGeom>
          <a:solidFill>
            <a:srgbClr val="F22782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color-pink-700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#F22782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4663440"/>
            <a:ext cx="1828800" cy="1005840"/>
          </a:xfrm>
          <a:prstGeom prst="rect">
            <a:avLst/>
          </a:prstGeom>
          <a:solidFill>
            <a:srgbClr val="E4106E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571500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color-pink-800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#E4106E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Color palette (6/6)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828800" cy="1005840"/>
          </a:xfrm>
          <a:prstGeom prst="rect">
            <a:avLst/>
          </a:prstGeom>
          <a:solidFill>
            <a:srgbClr val="C41562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color-pink-900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#C41562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371600"/>
            <a:ext cx="1828800" cy="1005840"/>
          </a:xfrm>
          <a:prstGeom prst="rect">
            <a:avLst/>
          </a:prstGeom>
          <a:solidFill>
            <a:srgbClr val="460523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color-pink-1000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#460523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1828800" cy="1005840"/>
          </a:xfrm>
          <a:prstGeom prst="rect">
            <a:avLst/>
          </a:prstGeom>
          <a:solidFill>
            <a:srgbClr val="FAFBFC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color-marketing-background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#FAFBFC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71600"/>
            <a:ext cx="1828800" cy="1005840"/>
          </a:xfrm>
          <a:prstGeom prst="rect">
            <a:avLst/>
          </a:prstGeom>
          <a:solidFill>
            <a:srgbClr val="7928CA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color-marketing-violet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#7928CA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1828800" cy="1005840"/>
          </a:xfrm>
          <a:prstGeom prst="rect">
            <a:avLst/>
          </a:prstGeom>
          <a:solidFill>
            <a:srgbClr val="50E3C2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color-marketing-cyan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#50E3C2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371600"/>
            <a:ext cx="1828800" cy="1005840"/>
          </a:xfrm>
          <a:prstGeom prst="rect">
            <a:avLst/>
          </a:prstGeom>
          <a:solidFill>
            <a:srgbClr val="FF0080"/>
          </a:solidFill>
          <a:ln w="635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2423160"/>
            <a:ext cx="1828800" cy="45720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r>
              <a:rPr sz="900" b="1">
                <a:solidFill>
                  <a:srgbClr val="171717"/>
                </a:solidFill>
              </a:rPr>
              <a:t>color-marketing-highlight-pink</a:t>
            </a:r>
          </a:p>
          <a:p>
            <a:r>
              <a:rPr sz="800">
                <a:solidFill>
                  <a:srgbClr val="6B7280"/>
                </a:solidFill>
                <a:latin typeface="Consolas"/>
              </a:rPr>
              <a:t>#FF0080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Typography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6400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3200" b="1">
                <a:solidFill>
                  <a:srgbClr val="171717"/>
                </a:solidFill>
                <a:latin typeface="Geist"/>
              </a:rPr>
              <a:t>The quick brown fox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71717"/>
                </a:solidFill>
              </a:rPr>
              <a:t>display</a:t>
            </a:r>
          </a:p>
          <a:p>
            <a:r>
              <a:rPr sz="900">
                <a:solidFill>
                  <a:srgbClr val="6B7280"/>
                </a:solidFill>
                <a:latin typeface="Consolas"/>
              </a:rPr>
              <a:t>48px · 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7315200" cy="6400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2250" b="1">
                <a:solidFill>
                  <a:srgbClr val="171717"/>
                </a:solidFill>
                <a:latin typeface="Geist"/>
              </a:rPr>
              <a:t>The quick brown fox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2860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71717"/>
                </a:solidFill>
              </a:rPr>
              <a:t>h2</a:t>
            </a:r>
          </a:p>
          <a:p>
            <a:r>
              <a:rPr sz="900">
                <a:solidFill>
                  <a:srgbClr val="6B7280"/>
                </a:solidFill>
                <a:latin typeface="Consolas"/>
              </a:rPr>
              <a:t>30px · 600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7315200" cy="6400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Geist"/>
              </a:rPr>
              <a:t>The quick brown fox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0175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71717"/>
                </a:solidFill>
              </a:rPr>
              <a:t>body</a:t>
            </a:r>
          </a:p>
          <a:p>
            <a:r>
              <a:rPr sz="900">
                <a:solidFill>
                  <a:srgbClr val="6B7280"/>
                </a:solidFill>
                <a:latin typeface="Consolas"/>
              </a:rPr>
              <a:t>16px · 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7315200" cy="6400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050" b="0">
                <a:solidFill>
                  <a:srgbClr val="171717"/>
                </a:solidFill>
                <a:latin typeface="Geist"/>
              </a:rPr>
              <a:t>The quick brown fox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7490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71717"/>
                </a:solidFill>
              </a:rPr>
              <a:t>body-sm</a:t>
            </a:r>
          </a:p>
          <a:p>
            <a:r>
              <a:rPr sz="900">
                <a:solidFill>
                  <a:srgbClr val="6B7280"/>
                </a:solidFill>
                <a:latin typeface="Consolas"/>
              </a:rPr>
              <a:t>14px · 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7315200" cy="6400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900" b="0">
                <a:solidFill>
                  <a:srgbClr val="171717"/>
                </a:solidFill>
                <a:latin typeface="Geist Mono"/>
              </a:rPr>
              <a:t>The quick brown fox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4805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71717"/>
                </a:solidFill>
              </a:rPr>
              <a:t>caption-mono</a:t>
            </a:r>
          </a:p>
          <a:p>
            <a:r>
              <a:rPr sz="900">
                <a:solidFill>
                  <a:srgbClr val="6B7280"/>
                </a:solidFill>
                <a:latin typeface="Consolas"/>
              </a:rPr>
              <a:t>12px · 400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>
                <a:solidFill>
                  <a:srgbClr val="171717"/>
                </a:solidFill>
              </a:rPr>
              <a:t>Spacing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57200"/>
            <a:ext cx="5486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400" b="1">
                <a:solidFill>
                  <a:srgbClr val="171717"/>
                </a:solidFill>
              </a:rPr>
              <a:t>Radii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43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" y="13533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286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429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" y="20848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4572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5059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6858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8163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9144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1821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11430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5478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18288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9136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27432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427939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96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36576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6451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128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45720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50109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192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60"/>
            <a:ext cx="4572000" cy="2286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537667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256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371600"/>
            <a:ext cx="1097280" cy="548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</a:rPr>
              <a:t>sm · 6px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057400"/>
            <a:ext cx="1097280" cy="548640"/>
          </a:xfrm>
          <a:prstGeom prst="roundRect">
            <a:avLst>
              <a:gd name="adj" fmla="val 6666"/>
            </a:avLst>
          </a:prstGeom>
          <a:solidFill>
            <a:srgbClr val="F5F5F5"/>
          </a:solidFill>
          <a:ln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</a:rPr>
              <a:t>marketing · 8px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7432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2788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</a:rPr>
              <a:t>modal · 12px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429000"/>
            <a:ext cx="1097280" cy="54864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3474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B5563"/>
                </a:solidFill>
              </a:rPr>
              <a:t>pill · 9999px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button-primary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backgroundColor: {colors.primary} · textColor: {colors.surface} · rounded: {rounded.sm} · padding: 10px 24px · typography: {typography.body-sm}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button-secondary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backgroundColor: {colors.surface} · textColor: {colors.primary} · rounded: {rounded.sm} · border: 1px solid {colors.border}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button-ghost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backgroundColor: transparent · textColor: {colors.primary} · typography: {typography.body-sm}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tag-pill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backgroundColor: {colors.surface-alt} · textColor: {colors.primary} · rounded: {rounded.marketing} · padding: 2px 6px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top-navigation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backgroundColor: transparent · textColor: {colors.primary} · typography: {typography.body-sm}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footer-link-matrix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backgroundColor: {colors.surface} · textColor: {colors.primary}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mesh-gradient-hero-asset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Multi-stop AI gradient at hero scale only — see Section 3.2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polarity-flipped-section-bands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06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Rhythmic alternation of {colors.surface} and {colors.primary} as section background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004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dot-grid-hero-background-pattern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20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4px radial-gradient dot raster overlaid on hero white surface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14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Consolas"/>
              </a:rPr>
              <a:t>operational-status-indicator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34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backgroundColor: {colors.success} · typography: {typography.caption-mono}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07A3C"/>
                </a:solidFill>
              </a:rPr>
              <a:t>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457200"/>
            <a:ext cx="5486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B42318"/>
                </a:solidFill>
              </a:rPr>
              <a:t>Don't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Reserve --ds-gray-1000 (#171717) for primary CTAs and primary text only. Black ink is the conversion target — using it as a background fill or decorative element flattens the brand.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Layer multiple small drop-shadows + an inset hairline ring for elevation. Vercel's cards are NEVER a single heavy drop — the stacked-shadow + ring trick is the brand's elevation signature.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Use --geist-radius (6px) for nav/UI controls and --geist-marketing-radius (8px) for marketing-scale surfaces. The two scales coexist deliberately — pick the one that matches the context.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Cycle page surfaces in polarity-flipped bands (--ds-background-100 ↔ --ds-gray-1000). The dark band IS the depth cue between sections — don't substitute shadow.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Set every code block, technical eyebrow, or status caption in --font-mono. Mono is the brand's voice of "we run infrastructure".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Display type at weight 600, sentence-case, with negative tracking (--tracking-tight or --tracking-tighter). Aggressive negative tracking is part of the typographic voice.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Use inset shadows (--ds-shadow-border) instead of real CSS borders for crisp 1-pixel divisions on Retina. Vercel's "card edge" sharpness depends on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Don't introduce a sixth accent color. The system runs on text + neutral grays + the four-pair mesh gradient. New accents (a "brand blue", a "secondary purple") flatten the voice instantly.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Don't miniaturize or single-color-reduce the mesh gradient. It lives at hero scale only. Shrinking it to an icon or solid-fill flattens the brand's only chromatic moment.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Don't render display headlines in all-caps. Sentence-case + tight tracking is the typographic contract.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Don't promote display weights above 600. Vercel never goes 700+ for display type. The brand trusts size + tracking to set hierarchy, not heavy ink.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Don't use a single heavy drop-shadow like 0 4px 8px rgba(0,0,0,0.2). Vercel's shadows are stacked small offsets; a single big drop reads as Material, not Geist.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Don't mix the marketing CTA shape with nav-scale radius on the same screen. Pick 6px or 8px and stay consistent within a context.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74151"/>
                </a:solidFill>
              </a:rPr>
              <a:t>• Don't set body paragraphs in --font-mono. Mono is reserved for code, technical labels, status captions, and eyebrow text — never running prose. 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71717"/>
                </a:solidFill>
              </a:rPr>
              <a:t>Reconstruction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171717"/>
                </a:solidFill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371600"/>
            <a:ext cx="9144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4B5563"/>
                </a:solidFill>
              </a:rPr>
              <a:t>Tailwind v4 + the Geist family of npm packages. Justification: the extracted CSS uses Tailwind utilities everywhere (--tw-* prefixed properties confirm), plus a layered design-tokens system. The Geist tokens are published by Vercel as @vercel/geist / available via geist/font for typography. For reco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107A3C"/>
                </a:solidFill>
              </a:rPr>
              <a:t>Quick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4B5563"/>
                </a:solidFill>
              </a:rPr>
              <a:t>• Typography is one import. import { GeistSans } from 'geist/font/sans' and the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B5563"/>
                </a:solidFill>
              </a:rPr>
              <a:t>• Palette is a copy-paste. Drop the 80+ DS palette tokens from design-tokens.json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B5563"/>
                </a:solidFill>
              </a:rPr>
              <a:t>• Buttons are trivial. Black fill, white text, 6px radius, ~10/24 padding —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8600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1">
                <a:solidFill>
                  <a:srgbClr val="B46E18"/>
                </a:solidFill>
              </a:rPr>
              <a:t>Tricky 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517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4B5563"/>
                </a:solidFill>
              </a:rPr>
              <a:t>• The hero gradient is the brand. Reproducing the orange → green → teal multi-stop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B5563"/>
                </a:solidFill>
              </a:rPr>
              <a:t>• Dot-grid background. The hero has a subtle dot pattern overlay — not a CSS variable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B5563"/>
                </a:solidFill>
              </a:rPr>
              <a:t>• Geist Sans is proprietary. Free for personal/Vercel-deployed projects via the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B5563"/>
                </a:solidFill>
              </a:rPr>
              <a:t>• --ds-shadow-border instead of real borders. Vercel uses inset shadows for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4B5563"/>
                </a:solidFill>
              </a:rPr>
              <a:t>• The custom --font-pixel-square (Geist pixel square) is a display font used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